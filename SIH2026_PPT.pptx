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2307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474" autoAdjust="0"/>
  </p:normalViewPr>
  <p:slideViewPr>
    <p:cSldViewPr snapToGrid="0">
      <p:cViewPr varScale="1">
        <p:scale>
          <a:sx n="75" d="100"/>
          <a:sy n="75" d="100"/>
        </p:scale>
        <p:origin x="5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2:16:15.386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2:16:20.169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 2272,'0'-1704,"2"1680,1 15,2 18,7 55,-2-1,1 72,-4-36,19 784,-26-864,14-221,-2 80,39-1316,-51 1434,0 2,0 0,1 0,-1 0,0-1,-1 1,1 0,0 0,0 0,-1 0,0 0,1 0,-1 0,0 0,0 0,0 0,0 0,-3-3,4 5,-1 0,1 0,-1 0,1 0,0 1,-1-1,1 0,-1 0,1 0,0 1,-1-1,1 0,-1 1,1-1,0 0,-1 1,1-1,0 0,0 1,-1-1,1 1,0-1,0 0,-1 1,1-1,0 1,0-1,0 1,0-1,0 1,0-1,0 1,0-1,0 1,-4 19,-37 357,27 345,16-452,-2-189,0-50,0-27,0-11,0-962,0 1038,-6 463,-37-6,31-457,6-37,1 0,-1 56,6-454,2 150,-2-197,0 393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16:37.5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78 2008 24575,'-8'-133'0,"0"27"0,-27-1419-1198,35 1463 1274,2 40 35,-2 0 1,0 1-1,-2-1 0,0 0 0,-2 1 1,-6-24-1,10 45-107,0-1 1,0 1-1,0 0 0,0 0 1,0 0-1,0-1 0,0 1 1,0 0-1,0 0 0,0 0 1,0-1-1,0 1 1,0 0-1,0 0 0,0 0 1,0-1-1,0 1 0,0 0 1,0 0-1,0 0 0,0-1 1,0 1-1,0 0 0,-1 0 1,1 0-1,0 0 1,0-1-1,0 1 0,0 0 1,0 0-1,-1 0 0,1 0 1,0 0-1,0 0 0,0-1 1,0 1-1,-1 0 0,1 0 1,0 0-1,0 0 1,0 0-1,-1 0 0,1 0 1,0 0-1,0 0 0,0 0 1,-1 0-1,1 0 0,0 0 1,-1 0-1,-2 14 95,1 24-77,3 1183-22,6-1003 0,41 258 0,-35-373 0,-2-13 0,3 0 0,47 159 0,-25-116 0,-31-111 0,1 14 0,-1 0 0,-3 1 0,-1-1 0,-3 41 0,0-4 0,1 343 0,0-409-273,1 0 0,1-1 0,0 1 0,2 12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16:51.3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150 447 24575,'-1'0'0,"-1"0"0,0-1 0,1 0 0,-1 1 0,1-1 0,-1 0 0,1 0 0,-1 0 0,1 0 0,0 0 0,-1 0 0,1 0 0,0 0 0,0 0 0,-2-2 0,-17-25 0,15 21 0,-2-5 0,-1 0 0,2 0 0,0-1 0,0 0 0,1 0 0,1 0 0,0-1 0,1 1 0,0-1 0,1 0 0,1 0 0,0 0 0,2-20 0,-4 8 0,0 0 0,-2 0 0,0 1 0,-2-1 0,-12-27 0,16 44 0,32 96 0,39 103 0,-59-165 0,9 39 0,-12-40 0,1 0 0,11 25 0,-10-30-1365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17:02.7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17:04.5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2A5FB-842C-0D24-5C37-B77AF56F1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893CF-AD5B-BBE7-60B6-4FEB09EC3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A979-C5C4-CBDF-E6EB-12ECD60C6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E5677-90C8-44C9-8EBF-1DA96A7439E1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FA15E-8945-E277-43F1-E51DADA4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B2BF9-B2FC-7A44-B3A4-2A8EDF72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D85B-EE17-411B-AF1B-EBBC7D808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85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9DCD2-BFDB-E4A9-3C8F-1E8AABBE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F9D61-A9E1-8DF5-5769-B943CB786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2E1E3-7D3A-A553-B708-77F242417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E5677-90C8-44C9-8EBF-1DA96A7439E1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9D1F7-26B2-6536-5948-9F5CDD832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F3A38-7DE4-D5B4-A0AB-24425D5DC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D85B-EE17-411B-AF1B-EBBC7D808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31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406A2-0E35-4439-2238-69B89AB1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518AB-EECE-3700-7DDA-C46E906EB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38532-7185-FE3C-D341-74056719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E5677-90C8-44C9-8EBF-1DA96A7439E1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C6F14-7D77-CE7A-5A12-D88548ED2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1891D-EE4F-74D8-5CED-FB015A24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D85B-EE17-411B-AF1B-EBBC7D808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931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B3339-34BA-3D89-9245-67953235F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5570F-A4B8-D0AF-B6EA-6726DCF9A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C6BC3-ED93-0CF4-054B-DFF478665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A0E8B-769B-51CC-DCB6-DD3B389E4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E5677-90C8-44C9-8EBF-1DA96A7439E1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E1212-275E-346D-9BF9-CCC50149A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EAC32-9C26-C529-2E99-EECD6A6E7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D85B-EE17-411B-AF1B-EBBC7D808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63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CD1F-495C-BA3B-A9DF-8957F332A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414F6-B5B3-A16F-0989-D3FF38760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B786C-5196-1276-38A9-9185A167D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49600E-36C6-6161-5294-F3E8012851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6F3896-AB32-5EB6-1A90-F832E91D7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6A3C5A-2900-43A3-E6E1-D88F81735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E5677-90C8-44C9-8EBF-1DA96A7439E1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44AF1D-2F42-D28E-260A-7F3BB0104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ED483-C971-546A-EE05-4A0C35653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D85B-EE17-411B-AF1B-EBBC7D808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2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018A-4E87-93F3-F8BA-C32AD48B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0BE48-42FD-A34D-F406-3010BF4D4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E5677-90C8-44C9-8EBF-1DA96A7439E1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9D47E-6020-38CE-E446-A50AC7427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4BB1C-3AB2-B6C7-DD15-EB9906B2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D85B-EE17-411B-AF1B-EBBC7D808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43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CFD883-8A6D-68D3-01E0-F1A50E2D7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E5677-90C8-44C9-8EBF-1DA96A7439E1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D2919-0A18-522F-9C73-1BE014E37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FF4F4-5576-6973-2EAA-9493DAAF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D85B-EE17-411B-AF1B-EBBC7D808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539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0B93-B829-EFD7-7A54-65FB43EA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D2C01-0B90-A207-C90B-4C44D7FB1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C732F-51CD-9740-9F8A-8F34C9A30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D04CE-6C66-F4F3-6CB1-85826053F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E5677-90C8-44C9-8EBF-1DA96A7439E1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ED396-1CE5-6C03-6484-90506B191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30FBE-A1B4-242F-E817-21EE73E2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D85B-EE17-411B-AF1B-EBBC7D808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146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00112-5375-02B7-0C28-638872022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F261EF-DFAE-F0B8-D481-90B864394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5E997-1083-1552-3F74-0D8F76BE8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A9298-D36E-93A8-63AA-64F3F12ED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E5677-90C8-44C9-8EBF-1DA96A7439E1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EEEDF-9931-9A6E-A6D6-7DBCB13EA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098AA7-0D2F-7ABF-43F2-45C490D45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D85B-EE17-411B-AF1B-EBBC7D808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31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67456-64A5-79BB-9702-7F577C4E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FC8A7E-E743-80CC-1BA0-9650D8A78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D80D6-CAC5-9B04-364E-743EEBC70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E5677-90C8-44C9-8EBF-1DA96A7439E1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8D369-4568-8FC6-CC5C-172F519B1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81AA-4496-CF99-791F-490ED60C5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D85B-EE17-411B-AF1B-EBBC7D808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83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D6A726-1267-35B3-CFCB-A112A17DD1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CFF6D5-A26B-6633-28D7-768B0E7E3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2D15B-953C-F8A4-06DE-596730058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E5677-90C8-44C9-8EBF-1DA96A7439E1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D5BD9-6108-6EF0-D861-A24851B9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514C8-83B5-6C44-E404-8EFF48E1A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D85B-EE17-411B-AF1B-EBBC7D808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0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95F3FA-0704-73CF-BABD-943AB7307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41B76-FD55-5A44-0310-4412890EF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1F860-3037-CBBE-37B5-4B006808A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E5677-90C8-44C9-8EBF-1DA96A7439E1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17B7C-1A26-2DC9-652F-3F680AC2A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CE128-1A86-4E11-2FD0-7EEDFAEBF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FD85B-EE17-411B-AF1B-EBBC7D808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10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oogle.com/document/d/1TIxLEPNfQwV43TNfAAbY8gbFrFhIov6i/edit?usp=drive_link&amp;ouid=107382923956200805117&amp;rtpof=true&amp;sd=true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rive.google.com/file/d/1xO6chl1v4HfuouqAjF2OSV7pZ9ohuKBk/view?usp=drive_link" TargetMode="Externa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5.jpe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customXml" Target="../ink/ink5.xml"/><Relationship Id="rId3" Type="http://schemas.openxmlformats.org/officeDocument/2006/relationships/image" Target="../media/image3.png"/><Relationship Id="rId7" Type="http://schemas.openxmlformats.org/officeDocument/2006/relationships/customXml" Target="../ink/ink2.xml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customXml" Target="../ink/ink3.xml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is.gov.in/know-your-standard/?lang=en" TargetMode="External"/><Relationship Id="rId13" Type="http://schemas.openxmlformats.org/officeDocument/2006/relationships/hyperlink" Target="https://medium.com/@ux4g.gov.in/ux4g-design-system-building-a-design-system-for-the-government-9615c0e2c836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manakonline.in/MANAK/login" TargetMode="External"/><Relationship Id="rId12" Type="http://schemas.openxmlformats.org/officeDocument/2006/relationships/hyperlink" Target="https://indiaai.gov.in/article/building-trust-and-sustaining-government-through-generative-ai?hl=en-I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eyondbis.co.in/" TargetMode="External"/><Relationship Id="rId11" Type="http://schemas.openxmlformats.org/officeDocument/2006/relationships/hyperlink" Target="https://apolitical.co/en/articles/the-case-for-ai-in-citizen-services-590?hl=en-IN" TargetMode="External"/><Relationship Id="rId5" Type="http://schemas.openxmlformats.org/officeDocument/2006/relationships/hyperlink" Target="https://www.bis.gov.in/bis-apps/?lang=en" TargetMode="External"/><Relationship Id="rId15" Type="http://schemas.openxmlformats.org/officeDocument/2006/relationships/hyperlink" Target="https://docs.google.com/document/d/1IxqKzHkyBu-Cklhz4ImH3pKr1C-Fq7s0/edit?usp=drive_link&amp;ouid=107382923956200805117&amp;rtpof=true&amp;sd=true" TargetMode="External"/><Relationship Id="rId10" Type="http://schemas.openxmlformats.org/officeDocument/2006/relationships/hyperlink" Target="https://medium.com/@pganesh7/ux-in-indian-government-websites-where-function-meets-friction-fce7f3a66558" TargetMode="External"/><Relationship Id="rId4" Type="http://schemas.openxmlformats.org/officeDocument/2006/relationships/hyperlink" Target="https://www.bis.gov.in/?lang=en" TargetMode="External"/><Relationship Id="rId9" Type="http://schemas.openxmlformats.org/officeDocument/2006/relationships/hyperlink" Target="https://medium.com/design-bootcamp/the-bureau-of-indian-standards-has-a-design-problem-so-does-india-7f60067b2ceb" TargetMode="External"/><Relationship Id="rId14" Type="http://schemas.openxmlformats.org/officeDocument/2006/relationships/hyperlink" Target="https://drive.google.com/file/d/1JF77vJ_1kvtUMhBudsVpVVmVnqfNf8kA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9A7515BB-3648-FF74-65AA-370C32845FDB}"/>
              </a:ext>
            </a:extLst>
          </p:cNvPr>
          <p:cNvSpPr/>
          <p:nvPr/>
        </p:nvSpPr>
        <p:spPr>
          <a:xfrm>
            <a:off x="1731507" y="42467"/>
            <a:ext cx="74742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2026</a:t>
            </a:r>
            <a:endParaRPr lang="en-IN" sz="3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969817A-158B-057A-D49B-57F5C68D2DDB}"/>
              </a:ext>
            </a:extLst>
          </p:cNvPr>
          <p:cNvSpPr txBox="1"/>
          <p:nvPr/>
        </p:nvSpPr>
        <p:spPr>
          <a:xfrm>
            <a:off x="2240281" y="59097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3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sz="32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3A7887CD-93F9-E9B8-358E-FD373FFCD8FB}"/>
              </a:ext>
            </a:extLst>
          </p:cNvPr>
          <p:cNvSpPr/>
          <p:nvPr/>
        </p:nvSpPr>
        <p:spPr>
          <a:xfrm>
            <a:off x="7802882" y="1481037"/>
            <a:ext cx="3647438" cy="4641165"/>
          </a:xfrm>
          <a:custGeom>
            <a:avLst/>
            <a:gdLst/>
            <a:ahLst/>
            <a:cxnLst/>
            <a:rect l="0" t="0" r="0" b="0"/>
            <a:pathLst>
              <a:path w="5918336" h="7734299">
                <a:moveTo>
                  <a:pt x="713984" y="0"/>
                </a:moveTo>
                <a:lnTo>
                  <a:pt x="1753219" y="0"/>
                </a:lnTo>
                <a:lnTo>
                  <a:pt x="1801165" y="8671"/>
                </a:lnTo>
                <a:cubicBezTo>
                  <a:pt x="1847773" y="25735"/>
                  <a:pt x="1889000" y="67143"/>
                  <a:pt x="1912559" y="125378"/>
                </a:cubicBezTo>
                <a:cubicBezTo>
                  <a:pt x="1912559" y="125378"/>
                  <a:pt x="1912559" y="125378"/>
                  <a:pt x="2191832" y="767323"/>
                </a:cubicBezTo>
                <a:lnTo>
                  <a:pt x="2223338" y="839825"/>
                </a:lnTo>
                <a:lnTo>
                  <a:pt x="2081131" y="839825"/>
                </a:lnTo>
                <a:lnTo>
                  <a:pt x="2030113" y="722640"/>
                </a:lnTo>
                <a:cubicBezTo>
                  <a:pt x="1835363" y="275051"/>
                  <a:pt x="1835363" y="275051"/>
                  <a:pt x="1835363" y="275051"/>
                </a:cubicBezTo>
                <a:cubicBezTo>
                  <a:pt x="1807474" y="206264"/>
                  <a:pt x="1751791" y="163963"/>
                  <a:pt x="1694108" y="163963"/>
                </a:cubicBezTo>
                <a:cubicBezTo>
                  <a:pt x="772809" y="163963"/>
                  <a:pt x="772809" y="163963"/>
                  <a:pt x="772809" y="163963"/>
                </a:cubicBezTo>
                <a:cubicBezTo>
                  <a:pt x="713129" y="163963"/>
                  <a:pt x="659349" y="206264"/>
                  <a:pt x="629556" y="275051"/>
                </a:cubicBezTo>
                <a:cubicBezTo>
                  <a:pt x="169907" y="1336003"/>
                  <a:pt x="169907" y="1336003"/>
                  <a:pt x="169907" y="1336003"/>
                </a:cubicBezTo>
                <a:cubicBezTo>
                  <a:pt x="140018" y="1402122"/>
                  <a:pt x="140018" y="1486819"/>
                  <a:pt x="169907" y="1552938"/>
                </a:cubicBezTo>
                <a:cubicBezTo>
                  <a:pt x="629556" y="2613890"/>
                  <a:pt x="629556" y="2613890"/>
                  <a:pt x="629556" y="2613890"/>
                </a:cubicBezTo>
                <a:cubicBezTo>
                  <a:pt x="644500" y="2648283"/>
                  <a:pt x="665346" y="2676103"/>
                  <a:pt x="689999" y="2695253"/>
                </a:cubicBezTo>
                <a:lnTo>
                  <a:pt x="696947" y="2699159"/>
                </a:lnTo>
                <a:lnTo>
                  <a:pt x="659444" y="2785666"/>
                </a:lnTo>
                <a:lnTo>
                  <a:pt x="631555" y="2850070"/>
                </a:lnTo>
                <a:lnTo>
                  <a:pt x="660491" y="2866266"/>
                </a:lnTo>
                <a:cubicBezTo>
                  <a:pt x="676197" y="2871983"/>
                  <a:pt x="692569" y="2874936"/>
                  <a:pt x="709416" y="2874936"/>
                </a:cubicBezTo>
                <a:cubicBezTo>
                  <a:pt x="1748650" y="2874936"/>
                  <a:pt x="1748650" y="2874936"/>
                  <a:pt x="1748650" y="2874936"/>
                </a:cubicBezTo>
                <a:cubicBezTo>
                  <a:pt x="1813757" y="2874936"/>
                  <a:pt x="1876579" y="2827205"/>
                  <a:pt x="1907990" y="2749558"/>
                </a:cubicBezTo>
                <a:cubicBezTo>
                  <a:pt x="2428749" y="1552843"/>
                  <a:pt x="2428749" y="1552843"/>
                  <a:pt x="2428749" y="1552843"/>
                </a:cubicBezTo>
                <a:cubicBezTo>
                  <a:pt x="2462444" y="1478245"/>
                  <a:pt x="2462444" y="1382687"/>
                  <a:pt x="2428749" y="1308088"/>
                </a:cubicBezTo>
                <a:cubicBezTo>
                  <a:pt x="2363642" y="1158511"/>
                  <a:pt x="2306721" y="1027607"/>
                  <a:pt x="2256845" y="913089"/>
                </a:cubicBezTo>
                <a:lnTo>
                  <a:pt x="2231715" y="855259"/>
                </a:lnTo>
                <a:lnTo>
                  <a:pt x="2348316" y="855259"/>
                </a:lnTo>
                <a:cubicBezTo>
                  <a:pt x="2710783" y="855259"/>
                  <a:pt x="3290747" y="855259"/>
                  <a:pt x="4218708" y="855259"/>
                </a:cubicBezTo>
                <a:cubicBezTo>
                  <a:pt x="4373670" y="855259"/>
                  <a:pt x="4523396" y="968919"/>
                  <a:pt x="4598212" y="1153747"/>
                </a:cubicBezTo>
                <a:cubicBezTo>
                  <a:pt x="4598212" y="1153747"/>
                  <a:pt x="4598212" y="1153747"/>
                  <a:pt x="5838190" y="4003436"/>
                </a:cubicBezTo>
                <a:cubicBezTo>
                  <a:pt x="5918336" y="4181119"/>
                  <a:pt x="5918336" y="4408534"/>
                  <a:pt x="5838190" y="4586122"/>
                </a:cubicBezTo>
                <a:cubicBezTo>
                  <a:pt x="5838190" y="4586122"/>
                  <a:pt x="5838190" y="4586122"/>
                  <a:pt x="4598212" y="7435811"/>
                </a:cubicBezTo>
                <a:cubicBezTo>
                  <a:pt x="4523396" y="7620544"/>
                  <a:pt x="4373765" y="7734299"/>
                  <a:pt x="4218708" y="7734299"/>
                </a:cubicBezTo>
                <a:cubicBezTo>
                  <a:pt x="4218708" y="7734299"/>
                  <a:pt x="4218708" y="7734299"/>
                  <a:pt x="1744080" y="7734299"/>
                </a:cubicBezTo>
                <a:cubicBezTo>
                  <a:pt x="1583693" y="7734299"/>
                  <a:pt x="1439392" y="7620639"/>
                  <a:pt x="1359247" y="7435811"/>
                </a:cubicBezTo>
                <a:cubicBezTo>
                  <a:pt x="1359247" y="7435811"/>
                  <a:pt x="1359247" y="7435811"/>
                  <a:pt x="124598" y="4586122"/>
                </a:cubicBezTo>
                <a:cubicBezTo>
                  <a:pt x="44452" y="4408439"/>
                  <a:pt x="44452" y="4181024"/>
                  <a:pt x="124598" y="4003436"/>
                </a:cubicBezTo>
                <a:cubicBezTo>
                  <a:pt x="124598" y="4003436"/>
                  <a:pt x="124598" y="4003436"/>
                  <a:pt x="583010" y="2945343"/>
                </a:cubicBezTo>
                <a:lnTo>
                  <a:pt x="621656" y="2856168"/>
                </a:lnTo>
                <a:lnTo>
                  <a:pt x="620323" y="2855405"/>
                </a:lnTo>
                <a:cubicBezTo>
                  <a:pt x="592529" y="2833779"/>
                  <a:pt x="569018" y="2802434"/>
                  <a:pt x="552170" y="2763658"/>
                </a:cubicBezTo>
                <a:cubicBezTo>
                  <a:pt x="552170" y="2763658"/>
                  <a:pt x="552170" y="2763658"/>
                  <a:pt x="33696" y="1566943"/>
                </a:cubicBezTo>
                <a:cubicBezTo>
                  <a:pt x="0" y="1492345"/>
                  <a:pt x="0" y="1396787"/>
                  <a:pt x="33696" y="1322189"/>
                </a:cubicBezTo>
                <a:cubicBezTo>
                  <a:pt x="33696" y="1322189"/>
                  <a:pt x="33696" y="1322189"/>
                  <a:pt x="552170" y="125474"/>
                </a:cubicBezTo>
                <a:cubicBezTo>
                  <a:pt x="577585" y="67167"/>
                  <a:pt x="617991" y="25741"/>
                  <a:pt x="665036" y="8673"/>
                </a:cubicBezTo>
                <a:lnTo>
                  <a:pt x="713984" y="0"/>
                </a:lnTo>
                <a:close/>
              </a:path>
            </a:pathLst>
          </a:custGeom>
          <a:ln w="0" cap="flat">
            <a:miter lim="127000"/>
          </a:ln>
        </p:spPr>
        <p:style>
          <a:lnRef idx="0">
            <a:srgbClr val="000000">
              <a:alpha val="0"/>
            </a:srgbClr>
          </a:lnRef>
          <a:fillRef idx="1">
            <a:srgbClr val="808080">
              <a:alpha val="14901"/>
            </a:srgbClr>
          </a:fillRef>
          <a:effectRef idx="0">
            <a:scrgbClr r="0" g="0" b="0"/>
          </a:effectRef>
          <a:fontRef idx="none"/>
        </p:style>
        <p:txBody>
          <a:bodyPr/>
          <a:lstStyle/>
          <a:p>
            <a:endParaRPr lang="en-IN" dirty="0"/>
          </a:p>
        </p:txBody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209BE427-89AE-88EC-DABA-C865046E83EF}"/>
              </a:ext>
            </a:extLst>
          </p:cNvPr>
          <p:cNvSpPr/>
          <p:nvPr/>
        </p:nvSpPr>
        <p:spPr>
          <a:xfrm>
            <a:off x="6774180" y="4762180"/>
            <a:ext cx="1427480" cy="1671955"/>
          </a:xfrm>
          <a:custGeom>
            <a:avLst/>
            <a:gdLst/>
            <a:ahLst/>
            <a:cxnLst/>
            <a:rect l="0" t="0" r="0" b="0"/>
            <a:pathLst>
              <a:path w="1427970" h="1672315">
                <a:moveTo>
                  <a:pt x="413200" y="0"/>
                </a:moveTo>
                <a:cubicBezTo>
                  <a:pt x="413200" y="0"/>
                  <a:pt x="413200" y="0"/>
                  <a:pt x="1014771" y="0"/>
                </a:cubicBezTo>
                <a:cubicBezTo>
                  <a:pt x="1052465" y="0"/>
                  <a:pt x="1088825" y="27629"/>
                  <a:pt x="1107005" y="72598"/>
                </a:cubicBezTo>
                <a:cubicBezTo>
                  <a:pt x="1107005" y="72598"/>
                  <a:pt x="1107005" y="72598"/>
                  <a:pt x="1408458" y="765323"/>
                </a:cubicBezTo>
                <a:cubicBezTo>
                  <a:pt x="1427970" y="808481"/>
                  <a:pt x="1427970" y="863835"/>
                  <a:pt x="1408458" y="906992"/>
                </a:cubicBezTo>
                <a:cubicBezTo>
                  <a:pt x="1408458" y="906992"/>
                  <a:pt x="1408458" y="906992"/>
                  <a:pt x="1107005" y="1599718"/>
                </a:cubicBezTo>
                <a:cubicBezTo>
                  <a:pt x="1088825" y="1644591"/>
                  <a:pt x="1052465" y="1672315"/>
                  <a:pt x="1014771" y="1672315"/>
                </a:cubicBezTo>
                <a:cubicBezTo>
                  <a:pt x="1014771" y="1672315"/>
                  <a:pt x="1014771" y="1672315"/>
                  <a:pt x="413200" y="1672315"/>
                </a:cubicBezTo>
                <a:cubicBezTo>
                  <a:pt x="374174" y="1672315"/>
                  <a:pt x="339145" y="1644685"/>
                  <a:pt x="319632" y="1599718"/>
                </a:cubicBezTo>
                <a:cubicBezTo>
                  <a:pt x="319632" y="1599718"/>
                  <a:pt x="319632" y="1599718"/>
                  <a:pt x="19514" y="906992"/>
                </a:cubicBezTo>
                <a:cubicBezTo>
                  <a:pt x="0" y="863834"/>
                  <a:pt x="0" y="808481"/>
                  <a:pt x="19514" y="765323"/>
                </a:cubicBezTo>
                <a:cubicBezTo>
                  <a:pt x="19514" y="765323"/>
                  <a:pt x="19514" y="765323"/>
                  <a:pt x="319632" y="72598"/>
                </a:cubicBezTo>
                <a:cubicBezTo>
                  <a:pt x="339145" y="27724"/>
                  <a:pt x="374174" y="0"/>
                  <a:pt x="413200" y="0"/>
                </a:cubicBezTo>
                <a:close/>
              </a:path>
            </a:pathLst>
          </a:custGeom>
          <a:ln w="0" cap="flat">
            <a:miter lim="127000"/>
          </a:ln>
        </p:spPr>
        <p:style>
          <a:lnRef idx="0">
            <a:srgbClr val="000000">
              <a:alpha val="0"/>
            </a:srgbClr>
          </a:lnRef>
          <a:fillRef idx="1">
            <a:srgbClr val="808080">
              <a:alpha val="14901"/>
            </a:srgbClr>
          </a:fillRef>
          <a:effectRef idx="0">
            <a:scrgbClr r="0" g="0" b="0"/>
          </a:effectRef>
          <a:fontRef idx="none"/>
        </p:style>
        <p:txBody>
          <a:bodyPr/>
          <a:lstStyle/>
          <a:p>
            <a:endParaRPr lang="en-IN"/>
          </a:p>
        </p:txBody>
      </p:sp>
      <p:sp>
        <p:nvSpPr>
          <p:cNvPr id="62" name="Shape 9">
            <a:extLst>
              <a:ext uri="{FF2B5EF4-FFF2-40B4-BE49-F238E27FC236}">
                <a16:creationId xmlns:a16="http://schemas.microsoft.com/office/drawing/2014/main" id="{0322FF2B-3A6D-A051-D951-4CB57EFBFB7B}"/>
              </a:ext>
            </a:extLst>
          </p:cNvPr>
          <p:cNvSpPr/>
          <p:nvPr/>
        </p:nvSpPr>
        <p:spPr>
          <a:xfrm>
            <a:off x="8107680" y="1907350"/>
            <a:ext cx="853757" cy="840474"/>
          </a:xfrm>
          <a:custGeom>
            <a:avLst/>
            <a:gdLst/>
            <a:ahLst/>
            <a:cxnLst/>
            <a:rect l="0" t="0" r="0" b="0"/>
            <a:pathLst>
              <a:path w="1627383" h="1855714">
                <a:moveTo>
                  <a:pt x="1049034" y="0"/>
                </a:moveTo>
                <a:lnTo>
                  <a:pt x="1049546" y="0"/>
                </a:lnTo>
                <a:cubicBezTo>
                  <a:pt x="1053776" y="0"/>
                  <a:pt x="1087611" y="0"/>
                  <a:pt x="1358294" y="0"/>
                </a:cubicBezTo>
                <a:lnTo>
                  <a:pt x="1394369" y="0"/>
                </a:lnTo>
                <a:lnTo>
                  <a:pt x="1428826" y="79171"/>
                </a:lnTo>
                <a:cubicBezTo>
                  <a:pt x="1476800" y="189401"/>
                  <a:pt x="1532578" y="317542"/>
                  <a:pt x="1597495" y="466739"/>
                </a:cubicBezTo>
                <a:cubicBezTo>
                  <a:pt x="1627383" y="532858"/>
                  <a:pt x="1627383" y="617555"/>
                  <a:pt x="1597495" y="683674"/>
                </a:cubicBezTo>
                <a:cubicBezTo>
                  <a:pt x="1597495" y="683674"/>
                  <a:pt x="1597495" y="683674"/>
                  <a:pt x="1135846" y="1744626"/>
                </a:cubicBezTo>
                <a:cubicBezTo>
                  <a:pt x="1107957" y="1813413"/>
                  <a:pt x="1052274" y="1855714"/>
                  <a:pt x="994591" y="1855714"/>
                </a:cubicBezTo>
                <a:cubicBezTo>
                  <a:pt x="994591" y="1855714"/>
                  <a:pt x="994591" y="1855714"/>
                  <a:pt x="73292" y="1855714"/>
                </a:cubicBezTo>
                <a:cubicBezTo>
                  <a:pt x="58348" y="1855714"/>
                  <a:pt x="43785" y="1853046"/>
                  <a:pt x="29888" y="1847997"/>
                </a:cubicBezTo>
                <a:lnTo>
                  <a:pt x="0" y="1831419"/>
                </a:lnTo>
                <a:lnTo>
                  <a:pt x="18276" y="1789309"/>
                </a:lnTo>
                <a:cubicBezTo>
                  <a:pt x="183136" y="1408791"/>
                  <a:pt x="394067" y="921854"/>
                  <a:pt x="664203" y="298488"/>
                </a:cubicBezTo>
                <a:cubicBezTo>
                  <a:pt x="734331" y="136847"/>
                  <a:pt x="853577" y="29548"/>
                  <a:pt x="989740" y="5249"/>
                </a:cubicBezTo>
                <a:lnTo>
                  <a:pt x="1049034" y="0"/>
                </a:lnTo>
                <a:close/>
              </a:path>
            </a:pathLst>
          </a:custGeom>
          <a:ln w="0" cap="flat">
            <a:miter lim="127000"/>
          </a:ln>
        </p:spPr>
        <p:style>
          <a:lnRef idx="0">
            <a:srgbClr val="000000">
              <a:alpha val="0"/>
            </a:srgbClr>
          </a:lnRef>
          <a:fillRef idx="1">
            <a:srgbClr val="808080">
              <a:alpha val="14901"/>
            </a:srgbClr>
          </a:fillRef>
          <a:effectRef idx="0">
            <a:scrgbClr r="0" g="0" b="0"/>
          </a:effectRef>
          <a:fontRef idx="none"/>
        </p:style>
        <p:txBody>
          <a:bodyPr/>
          <a:lstStyle/>
          <a:p>
            <a:endParaRPr lang="en-IN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B807776C-76A5-8B36-FCDB-F2510055C488}"/>
              </a:ext>
            </a:extLst>
          </p:cNvPr>
          <p:cNvPicPr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8412480" y="2747825"/>
            <a:ext cx="2560320" cy="2758896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53209C69-D3A3-3FAE-5393-3CF1B9403ED8}"/>
              </a:ext>
            </a:extLst>
          </p:cNvPr>
          <p:cNvSpPr txBox="1"/>
          <p:nvPr/>
        </p:nvSpPr>
        <p:spPr>
          <a:xfrm>
            <a:off x="193039" y="868119"/>
            <a:ext cx="10932160" cy="5425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SIH26107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Al-powered Intelligent Assistant for Indian Standards and BIS Services for Industries and Consumers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7200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Jagruk Swadesh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2762F5C6-5FB1-DD1F-7AD4-17D51E7FF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601" y="224135"/>
            <a:ext cx="2249850" cy="10623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CE56BB-33AB-41CB-7C6F-E86C93CB0A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6" y="-167831"/>
            <a:ext cx="1713257" cy="171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09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DC78A6-24F7-630F-E38A-404CBB2F4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601" y="116523"/>
            <a:ext cx="2249850" cy="10623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A99B7F-A0E6-1C75-455E-8DD5379664C2}"/>
              </a:ext>
            </a:extLst>
          </p:cNvPr>
          <p:cNvSpPr txBox="1"/>
          <p:nvPr/>
        </p:nvSpPr>
        <p:spPr>
          <a:xfrm>
            <a:off x="1153161" y="279083"/>
            <a:ext cx="92557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AI-Automated Chatbot For </a:t>
            </a:r>
          </a:p>
          <a:p>
            <a:pPr algn="ctr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Bureau of Indian Standards  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74823E-2BF3-F08F-CDAF-D4D8E36EE978}"/>
              </a:ext>
            </a:extLst>
          </p:cNvPr>
          <p:cNvSpPr txBox="1"/>
          <p:nvPr/>
        </p:nvSpPr>
        <p:spPr>
          <a:xfrm>
            <a:off x="4124960" y="1991360"/>
            <a:ext cx="386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0AF9CC-6C7E-828B-C965-E8691A506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648" y="1834979"/>
            <a:ext cx="7716588" cy="38807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52BA99-1B96-925B-F087-68A00F9762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239"/>
          <a:stretch>
            <a:fillRect/>
          </a:stretch>
        </p:blipFill>
        <p:spPr>
          <a:xfrm>
            <a:off x="4514103" y="2451388"/>
            <a:ext cx="7534275" cy="265427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48BB15-C922-A8F6-E7F5-070909827877}"/>
              </a:ext>
            </a:extLst>
          </p:cNvPr>
          <p:cNvSpPr/>
          <p:nvPr/>
        </p:nvSpPr>
        <p:spPr>
          <a:xfrm>
            <a:off x="4637494" y="2246325"/>
            <a:ext cx="2092036" cy="3671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Unstructured Data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AEA673-A9AE-FE65-0265-565D0707A355}"/>
              </a:ext>
            </a:extLst>
          </p:cNvPr>
          <p:cNvSpPr/>
          <p:nvPr/>
        </p:nvSpPr>
        <p:spPr>
          <a:xfrm>
            <a:off x="7385733" y="2178311"/>
            <a:ext cx="1690254" cy="5478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Agentic AI pipeline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79E6A47-F2A6-B5E1-ED2C-6E26795E8DAB}"/>
              </a:ext>
            </a:extLst>
          </p:cNvPr>
          <p:cNvSpPr/>
          <p:nvPr/>
        </p:nvSpPr>
        <p:spPr>
          <a:xfrm>
            <a:off x="9706998" y="2260180"/>
            <a:ext cx="2161309" cy="4156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Structured Response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463E4-D0E3-28D9-68EA-1EEA679BF05D}"/>
              </a:ext>
            </a:extLst>
          </p:cNvPr>
          <p:cNvSpPr txBox="1"/>
          <p:nvPr/>
        </p:nvSpPr>
        <p:spPr>
          <a:xfrm>
            <a:off x="4270243" y="6282406"/>
            <a:ext cx="12406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i="1" dirty="0">
                <a:ea typeface="Calibri"/>
                <a:cs typeface="Calibri"/>
              </a:rPr>
              <a:t>Prototype</a:t>
            </a:r>
            <a:endParaRPr lang="en-US" i="1">
              <a:ea typeface="Calibri"/>
              <a:cs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61A489-5716-EEB4-95FF-CE22A71E9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2765" y="5296866"/>
            <a:ext cx="2369443" cy="21931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3FA24E4-B284-8F2C-6B94-525819E8C80C}"/>
              </a:ext>
            </a:extLst>
          </p:cNvPr>
          <p:cNvSpPr txBox="1"/>
          <p:nvPr/>
        </p:nvSpPr>
        <p:spPr>
          <a:xfrm>
            <a:off x="6827771" y="6251043"/>
            <a:ext cx="1315551" cy="64633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</a:t>
            </a:r>
            <a:endParaRPr lang="en-US" b="1" dirty="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endParaRPr lang="en-US" b="1" dirty="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7" name="Arrow: Striped Right 16">
            <a:extLst>
              <a:ext uri="{FF2B5EF4-FFF2-40B4-BE49-F238E27FC236}">
                <a16:creationId xmlns:a16="http://schemas.microsoft.com/office/drawing/2014/main" id="{17FD44A4-3C20-2CAD-F263-50A7B552C42C}"/>
              </a:ext>
            </a:extLst>
          </p:cNvPr>
          <p:cNvSpPr/>
          <p:nvPr/>
        </p:nvSpPr>
        <p:spPr>
          <a:xfrm>
            <a:off x="5430877" y="6279258"/>
            <a:ext cx="734290" cy="374072"/>
          </a:xfrm>
          <a:prstGeom prst="strip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54D96DB1-A1C0-035F-A4A9-C270BBCE15DA}"/>
              </a:ext>
            </a:extLst>
          </p:cNvPr>
          <p:cNvSpPr/>
          <p:nvPr/>
        </p:nvSpPr>
        <p:spPr>
          <a:xfrm>
            <a:off x="6827771" y="2363460"/>
            <a:ext cx="387927" cy="2078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67D0C07-6A60-4B9B-22FB-316E11D4AE29}"/>
              </a:ext>
            </a:extLst>
          </p:cNvPr>
          <p:cNvSpPr/>
          <p:nvPr/>
        </p:nvSpPr>
        <p:spPr>
          <a:xfrm>
            <a:off x="9156595" y="2317487"/>
            <a:ext cx="471054" cy="2701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29908B-A6F3-8B72-CA74-9A880754B232}"/>
              </a:ext>
            </a:extLst>
          </p:cNvPr>
          <p:cNvSpPr/>
          <p:nvPr/>
        </p:nvSpPr>
        <p:spPr>
          <a:xfrm>
            <a:off x="4791784" y="5225682"/>
            <a:ext cx="6885077" cy="3702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A38D0B-F1A3-48D4-2032-9B892B440C6D}"/>
              </a:ext>
            </a:extLst>
          </p:cNvPr>
          <p:cNvSpPr txBox="1"/>
          <p:nvPr/>
        </p:nvSpPr>
        <p:spPr>
          <a:xfrm>
            <a:off x="4778559" y="5226311"/>
            <a:ext cx="78832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“Pressure Cooker”  →  product context  →  BIS testing and certifications</a:t>
            </a:r>
            <a:endParaRPr lang="en-US">
              <a:solidFill>
                <a:schemeClr val="accent1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89F41F4-1CC1-8D11-5366-51349319E5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6" y="-167831"/>
            <a:ext cx="1713257" cy="171325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DB061AD-47C4-49D4-DFEF-355CFD7F8817}"/>
              </a:ext>
            </a:extLst>
          </p:cNvPr>
          <p:cNvSpPr txBox="1"/>
          <p:nvPr/>
        </p:nvSpPr>
        <p:spPr>
          <a:xfrm>
            <a:off x="8132033" y="6098261"/>
            <a:ext cx="12406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i="1" dirty="0">
                <a:ea typeface="Calibri"/>
                <a:cs typeface="Calibri"/>
              </a:rPr>
              <a:t>Project report</a:t>
            </a:r>
            <a:endParaRPr lang="en-US" i="1" dirty="0">
              <a:ea typeface="Calibri"/>
              <a:cs typeface="Calibri"/>
            </a:endParaRPr>
          </a:p>
        </p:txBody>
      </p:sp>
      <p:sp>
        <p:nvSpPr>
          <p:cNvPr id="27" name="Arrow: Striped Right 26">
            <a:extLst>
              <a:ext uri="{FF2B5EF4-FFF2-40B4-BE49-F238E27FC236}">
                <a16:creationId xmlns:a16="http://schemas.microsoft.com/office/drawing/2014/main" id="{3A0C4C52-1985-9F87-0C4D-B63D8FAC1414}"/>
              </a:ext>
            </a:extLst>
          </p:cNvPr>
          <p:cNvSpPr/>
          <p:nvPr/>
        </p:nvSpPr>
        <p:spPr>
          <a:xfrm>
            <a:off x="9066902" y="6224547"/>
            <a:ext cx="734290" cy="374072"/>
          </a:xfrm>
          <a:prstGeom prst="strip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293B697-FED9-2FD3-D9E4-7709698590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7008" y="5239559"/>
            <a:ext cx="2369443" cy="219311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34D0FF4-19EF-2DCB-6AFD-84C4404EE921}"/>
              </a:ext>
            </a:extLst>
          </p:cNvPr>
          <p:cNvSpPr txBox="1"/>
          <p:nvPr/>
        </p:nvSpPr>
        <p:spPr>
          <a:xfrm>
            <a:off x="10229061" y="6171811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bg1">
                    <a:lumMod val="95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</a:t>
            </a:r>
            <a:endParaRPr lang="en-US" sz="2000" b="1" u="sng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6599679-C1E1-FE07-A22A-F6878DE639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40" y="1334749"/>
            <a:ext cx="3251780" cy="190404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00F9733-BB98-8DB6-552E-3BD554518E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44" y="3123534"/>
            <a:ext cx="3175099" cy="190915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80C551B-A876-CA28-B023-9351815726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26" y="4882919"/>
            <a:ext cx="3277358" cy="205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75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BD93F-F52E-4D7C-8608-ED52174BC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16BAFF-37FF-DBE7-21CF-ECFD237EF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601" y="224135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5DE012-3FCE-F51E-803F-6E941D3A6D0B}"/>
              </a:ext>
            </a:extLst>
          </p:cNvPr>
          <p:cNvSpPr txBox="1"/>
          <p:nvPr/>
        </p:nvSpPr>
        <p:spPr>
          <a:xfrm>
            <a:off x="2733040" y="2241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1E37E8-A500-3602-BF58-08F703FD3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6" y="-167831"/>
            <a:ext cx="1713257" cy="17132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909A39-50D0-AEBE-326B-EC995F1E32C5}"/>
              </a:ext>
            </a:extLst>
          </p:cNvPr>
          <p:cNvSpPr txBox="1"/>
          <p:nvPr/>
        </p:nvSpPr>
        <p:spPr>
          <a:xfrm>
            <a:off x="4984310" y="1155700"/>
            <a:ext cx="5182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WORK FLOW DIAGRAM</a:t>
            </a:r>
            <a:endParaRPr lang="en-IN" sz="24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DFE368-804E-0DA9-6762-7026726911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024" y="1584800"/>
            <a:ext cx="8519976" cy="5273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83A4CB-9ED0-7705-701F-8DD5C7A04D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6532"/>
            <a:ext cx="3705742" cy="54204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C179DF-C4D8-CA6B-426E-A0D732680C3B}"/>
              </a:ext>
            </a:extLst>
          </p:cNvPr>
          <p:cNvSpPr txBox="1"/>
          <p:nvPr/>
        </p:nvSpPr>
        <p:spPr>
          <a:xfrm>
            <a:off x="-1022927" y="95036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TECH STACK</a:t>
            </a:r>
          </a:p>
        </p:txBody>
      </p:sp>
    </p:spTree>
    <p:extLst>
      <p:ext uri="{BB962C8B-B14F-4D97-AF65-F5344CB8AC3E}">
        <p14:creationId xmlns:p14="http://schemas.microsoft.com/office/powerpoint/2010/main" val="331747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3CA6C-03B6-254E-B4F9-ECC8374AD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4735A-4744-3585-F6CE-D5836A054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601" y="224135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E14848-9FC2-D499-F96B-3FD64A4FFDF4}"/>
              </a:ext>
            </a:extLst>
          </p:cNvPr>
          <p:cNvSpPr txBox="1"/>
          <p:nvPr/>
        </p:nvSpPr>
        <p:spPr>
          <a:xfrm>
            <a:off x="2133600" y="224135"/>
            <a:ext cx="739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877598-C7DD-A235-0B22-A7E791B402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6" y="-167831"/>
            <a:ext cx="1713257" cy="17132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2F6D3E-FA47-7BED-FF19-A8FF4D9F1D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6" y="1286472"/>
            <a:ext cx="11679444" cy="557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518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02416-4460-EDC4-A823-3DAA6361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6F8492-0A09-A23D-3662-7DC65E9F5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601" y="224135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7EC497-F5B5-9510-48F0-EE71866033FD}"/>
              </a:ext>
            </a:extLst>
          </p:cNvPr>
          <p:cNvSpPr txBox="1"/>
          <p:nvPr/>
        </p:nvSpPr>
        <p:spPr>
          <a:xfrm>
            <a:off x="2641600" y="2241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35EEC0-4115-5213-C48D-C5BCA88F3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6" y="-167831"/>
            <a:ext cx="1713257" cy="17132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1C1C65-1C65-916D-6A79-B9D18027FE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72"/>
            <a:ext cx="12192000" cy="55102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015F555-72F5-98DF-8797-4D0A9CB4AD84}"/>
                  </a:ext>
                </a:extLst>
              </p14:cNvPr>
              <p14:cNvContentPartPr/>
              <p14:nvPr/>
            </p14:nvContentPartPr>
            <p14:xfrm>
              <a:off x="6098832" y="4626576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015F555-72F5-98DF-8797-4D0A9CB4AD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45192" y="4518936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428D0AF-C362-105D-A94B-6CFD0ACC5C94}"/>
                  </a:ext>
                </a:extLst>
              </p14:cNvPr>
              <p14:cNvContentPartPr/>
              <p14:nvPr/>
            </p14:nvContentPartPr>
            <p14:xfrm>
              <a:off x="6107472" y="4220496"/>
              <a:ext cx="56520" cy="817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28D0AF-C362-105D-A94B-6CFD0ACC5C9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53472" y="4112856"/>
                <a:ext cx="164160" cy="10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E808CB9-6842-A0F2-9664-172F0E604CF2}"/>
                  </a:ext>
                </a:extLst>
              </p14:cNvPr>
              <p14:cNvContentPartPr/>
              <p14:nvPr/>
            </p14:nvContentPartPr>
            <p14:xfrm>
              <a:off x="6071112" y="3904056"/>
              <a:ext cx="75960" cy="1228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E808CB9-6842-A0F2-9664-172F0E604CF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08112" y="3841056"/>
                <a:ext cx="201600" cy="135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43F2968-1787-1D71-4EAE-F9AF99514502}"/>
                  </a:ext>
                </a:extLst>
              </p14:cNvPr>
              <p14:cNvContentPartPr/>
              <p14:nvPr/>
            </p14:nvContentPartPr>
            <p14:xfrm>
              <a:off x="6310152" y="3953736"/>
              <a:ext cx="59040" cy="174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43F2968-1787-1D71-4EAE-F9AF9951450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47512" y="3891096"/>
                <a:ext cx="184680" cy="29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2DDAEC8-3E5E-EC1A-7AA3-E1EC275549F2}"/>
              </a:ext>
            </a:extLst>
          </p:cNvPr>
          <p:cNvGrpSpPr/>
          <p:nvPr/>
        </p:nvGrpSpPr>
        <p:grpSpPr>
          <a:xfrm>
            <a:off x="6235992" y="4233456"/>
            <a:ext cx="360" cy="360"/>
            <a:chOff x="6235992" y="4233456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D403302-AAFD-1B33-A845-431D505EDD4F}"/>
                    </a:ext>
                  </a:extLst>
                </p14:cNvPr>
                <p14:cNvContentPartPr/>
                <p14:nvPr/>
              </p14:nvContentPartPr>
              <p14:xfrm>
                <a:off x="6235992" y="4233456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D403302-AAFD-1B33-A845-431D505EDD4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73352" y="417081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EB64765-BD81-1F42-083A-941336A56196}"/>
                    </a:ext>
                  </a:extLst>
                </p14:cNvPr>
                <p14:cNvContentPartPr/>
                <p14:nvPr/>
              </p14:nvContentPartPr>
              <p14:xfrm>
                <a:off x="6235992" y="4233456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EB64765-BD81-1F42-083A-941336A5619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73352" y="417081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A767A7-F3C5-8CF0-6CBF-F6D94C0A86F1}"/>
              </a:ext>
            </a:extLst>
          </p:cNvPr>
          <p:cNvCxnSpPr/>
          <p:nvPr/>
        </p:nvCxnSpPr>
        <p:spPr>
          <a:xfrm>
            <a:off x="7658100" y="4518216"/>
            <a:ext cx="1295400" cy="19206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C9A95A0D-6913-9632-6DA1-BD16A6B4CB04}"/>
              </a:ext>
            </a:extLst>
          </p:cNvPr>
          <p:cNvSpPr/>
          <p:nvPr/>
        </p:nvSpPr>
        <p:spPr>
          <a:xfrm>
            <a:off x="7637040" y="4475752"/>
            <a:ext cx="75960" cy="15082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F51B36A-97C5-2232-107B-2F8D0BE25395}"/>
              </a:ext>
            </a:extLst>
          </p:cNvPr>
          <p:cNvSpPr/>
          <p:nvPr/>
        </p:nvSpPr>
        <p:spPr>
          <a:xfrm>
            <a:off x="8898600" y="6288076"/>
            <a:ext cx="75960" cy="15082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863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5FAA0-8713-31F9-EFD3-758A6F5A7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E3E2A1-607C-84F2-D4A1-4DE3335C2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601" y="224135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4BABD6-50FA-3F24-4481-0BFAA7D457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6" y="-167831"/>
            <a:ext cx="1713257" cy="1713257"/>
          </a:xfrm>
          <a:prstGeom prst="rect">
            <a:avLst/>
          </a:prstGeom>
        </p:spPr>
      </p:pic>
      <p:sp>
        <p:nvSpPr>
          <p:cNvPr id="9" name="TextBox 3">
            <a:extLst>
              <a:ext uri="{FF2B5EF4-FFF2-40B4-BE49-F238E27FC236}">
                <a16:creationId xmlns:a16="http://schemas.microsoft.com/office/drawing/2014/main" id="{ED1A3366-D780-8FFA-0045-4F1C9702DF2D}"/>
              </a:ext>
            </a:extLst>
          </p:cNvPr>
          <p:cNvSpPr txBox="1"/>
          <p:nvPr/>
        </p:nvSpPr>
        <p:spPr>
          <a:xfrm>
            <a:off x="1167679" y="424872"/>
            <a:ext cx="8705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IN" sz="3600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5A743A25-6BA6-F1D8-6B47-4A6290E35977}"/>
              </a:ext>
            </a:extLst>
          </p:cNvPr>
          <p:cNvSpPr/>
          <p:nvPr/>
        </p:nvSpPr>
        <p:spPr>
          <a:xfrm>
            <a:off x="335575" y="1679040"/>
            <a:ext cx="2337815" cy="1612369"/>
          </a:xfrm>
          <a:prstGeom prst="hexagon">
            <a:avLst/>
          </a:prstGeom>
          <a:solidFill>
            <a:srgbClr val="E8F6FA"/>
          </a:solidFill>
          <a:ln w="19050">
            <a:solidFill>
              <a:srgbClr val="00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Ins="201168" b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83769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BIS Official Website</a:t>
            </a:r>
          </a:p>
          <a:p>
            <a:pPr algn="ctr">
              <a:spcBef>
                <a:spcPts val="300"/>
              </a:spcBef>
              <a:defRPr sz="850">
                <a:solidFill>
                  <a:srgbClr val="083769"/>
                </a:solidFill>
                <a:latin typeface="Aptos"/>
              </a:defRPr>
            </a:pPr>
            <a:r>
              <a:rPr sz="800" dirty="0"/>
              <a:t>Standards, certification,</a:t>
            </a:r>
            <a:br>
              <a:rPr sz="800" dirty="0"/>
            </a:br>
            <a:r>
              <a:rPr sz="800" dirty="0"/>
              <a:t>hallmarking and other services.</a:t>
            </a:r>
          </a:p>
          <a:p>
            <a:pPr algn="ctr">
              <a:spcBef>
                <a:spcPts val="400"/>
              </a:spcBef>
              <a:defRPr sz="800" b="1">
                <a:solidFill>
                  <a:srgbClr val="007EA0"/>
                </a:solidFill>
                <a:latin typeface="Aptos"/>
              </a:defRPr>
            </a:pPr>
            <a:r>
              <a:rPr dirty="0"/>
              <a:t>🔗  </a:t>
            </a:r>
            <a:r>
              <a:rPr sz="1000" dirty="0">
                <a:hlinkClick r:id="rId4"/>
              </a:rPr>
              <a:t>bis.gov.in</a:t>
            </a:r>
            <a:endParaRPr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898CA8C6-B916-D389-6ADA-A76E81E63865}"/>
              </a:ext>
            </a:extLst>
          </p:cNvPr>
          <p:cNvSpPr/>
          <p:nvPr/>
        </p:nvSpPr>
        <p:spPr>
          <a:xfrm>
            <a:off x="335575" y="3307497"/>
            <a:ext cx="2337815" cy="1593256"/>
          </a:xfrm>
          <a:prstGeom prst="hexagon">
            <a:avLst/>
          </a:prstGeom>
          <a:solidFill>
            <a:srgbClr val="083769"/>
          </a:solidFill>
          <a:ln w="19050">
            <a:solidFill>
              <a:srgbClr val="00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Ins="201168" b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BIS Care App</a:t>
            </a:r>
          </a:p>
          <a:p>
            <a:pPr algn="ctr">
              <a:spcBef>
                <a:spcPts val="300"/>
              </a:spcBef>
              <a:defRPr sz="850">
                <a:solidFill>
                  <a:srgbClr val="FFFFFF"/>
                </a:solidFill>
                <a:latin typeface="Aptos"/>
              </a:defRPr>
            </a:pPr>
            <a:r>
              <a:rPr sz="800" dirty="0"/>
              <a:t>Grievance redressal and</a:t>
            </a:r>
            <a:br>
              <a:rPr sz="800" dirty="0"/>
            </a:br>
            <a:r>
              <a:rPr sz="800" dirty="0"/>
              <a:t>consumer support services.</a:t>
            </a:r>
          </a:p>
          <a:p>
            <a:pPr algn="ctr">
              <a:spcBef>
                <a:spcPts val="400"/>
              </a:spcBef>
              <a:defRPr sz="800" b="1">
                <a:solidFill>
                  <a:srgbClr val="FFFFFF"/>
                </a:solidFill>
                <a:latin typeface="Aptos"/>
              </a:defRPr>
            </a:pPr>
            <a:endParaRPr lang="en-US" dirty="0"/>
          </a:p>
          <a:p>
            <a:pPr algn="ctr">
              <a:spcBef>
                <a:spcPts val="400"/>
              </a:spcBef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000" dirty="0"/>
              <a:t>🔗  </a:t>
            </a:r>
            <a:r>
              <a:rPr sz="1000" dirty="0">
                <a:hlinkClick r:id="rId5"/>
              </a:rPr>
              <a:t>BIS Care</a:t>
            </a:r>
            <a:endParaRPr sz="1000" dirty="0"/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65261320-15B4-517D-04E5-ADCA1EEEF0EA}"/>
              </a:ext>
            </a:extLst>
          </p:cNvPr>
          <p:cNvSpPr/>
          <p:nvPr/>
        </p:nvSpPr>
        <p:spPr>
          <a:xfrm>
            <a:off x="2280201" y="2509104"/>
            <a:ext cx="2337814" cy="1593256"/>
          </a:xfrm>
          <a:prstGeom prst="hexagon">
            <a:avLst/>
          </a:prstGeom>
          <a:solidFill>
            <a:srgbClr val="083769"/>
          </a:solidFill>
          <a:ln w="19050">
            <a:solidFill>
              <a:srgbClr val="00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Ins="201168" b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 BIS</a:t>
            </a:r>
          </a:p>
          <a:p>
            <a:pPr algn="ctr">
              <a:spcBef>
                <a:spcPts val="300"/>
              </a:spcBef>
              <a:defRPr sz="850">
                <a:solidFill>
                  <a:srgbClr val="FFFFFF"/>
                </a:solidFill>
                <a:latin typeface="Aptos"/>
              </a:defRPr>
            </a:pPr>
            <a:r>
              <a:rPr sz="800" dirty="0"/>
              <a:t>Information on BIS services,</a:t>
            </a:r>
            <a:br>
              <a:rPr sz="800" dirty="0"/>
            </a:br>
            <a:r>
              <a:rPr sz="800" dirty="0"/>
              <a:t>initiatives and resources.</a:t>
            </a:r>
          </a:p>
          <a:p>
            <a:pPr algn="ctr">
              <a:spcBef>
                <a:spcPts val="400"/>
              </a:spcBef>
              <a:defRPr sz="800" b="1">
                <a:solidFill>
                  <a:srgbClr val="FFFFFF"/>
                </a:solidFill>
                <a:latin typeface="Aptos"/>
              </a:defRPr>
            </a:pPr>
            <a:endParaRPr lang="en-US" dirty="0"/>
          </a:p>
          <a:p>
            <a:pPr algn="ctr">
              <a:spcBef>
                <a:spcPts val="400"/>
              </a:spcBef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000" dirty="0"/>
              <a:t>🔗  </a:t>
            </a:r>
            <a:r>
              <a:rPr sz="1000" dirty="0">
                <a:hlinkClick r:id="rId6"/>
              </a:rPr>
              <a:t>Beyond BIS</a:t>
            </a:r>
            <a:endParaRPr sz="1000" dirty="0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10E8F9C6-DCDF-66BA-C9C6-8A00F9BC8EB1}"/>
              </a:ext>
            </a:extLst>
          </p:cNvPr>
          <p:cNvSpPr/>
          <p:nvPr/>
        </p:nvSpPr>
        <p:spPr>
          <a:xfrm>
            <a:off x="335575" y="4897223"/>
            <a:ext cx="2295142" cy="1585163"/>
          </a:xfrm>
          <a:prstGeom prst="hexagon">
            <a:avLst/>
          </a:prstGeom>
          <a:solidFill>
            <a:srgbClr val="E8F6FA"/>
          </a:solidFill>
          <a:ln w="19050">
            <a:solidFill>
              <a:srgbClr val="00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Ins="201168" b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83769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e-BIS</a:t>
            </a:r>
          </a:p>
          <a:p>
            <a:pPr algn="ctr">
              <a:spcBef>
                <a:spcPts val="300"/>
              </a:spcBef>
              <a:defRPr sz="850">
                <a:solidFill>
                  <a:srgbClr val="083769"/>
                </a:solidFill>
                <a:latin typeface="Aptos"/>
              </a:defRPr>
            </a:pPr>
            <a:r>
              <a:rPr sz="800" dirty="0"/>
              <a:t>Access to e-services,</a:t>
            </a:r>
            <a:br>
              <a:rPr sz="800" dirty="0"/>
            </a:br>
            <a:r>
              <a:rPr sz="800" dirty="0"/>
              <a:t>licenses and certification.</a:t>
            </a:r>
          </a:p>
          <a:p>
            <a:pPr algn="ctr">
              <a:spcBef>
                <a:spcPts val="400"/>
              </a:spcBef>
              <a:defRPr sz="800" b="1">
                <a:solidFill>
                  <a:srgbClr val="007EA0"/>
                </a:solidFill>
                <a:latin typeface="Aptos"/>
              </a:defRPr>
            </a:pPr>
            <a:endParaRPr lang="en-US" sz="800" dirty="0"/>
          </a:p>
          <a:p>
            <a:pPr algn="ctr">
              <a:spcBef>
                <a:spcPts val="400"/>
              </a:spcBef>
              <a:defRPr sz="800" b="1">
                <a:solidFill>
                  <a:srgbClr val="007EA0"/>
                </a:solidFill>
                <a:latin typeface="Aptos"/>
              </a:defRPr>
            </a:pPr>
            <a:r>
              <a:rPr sz="1000" dirty="0"/>
              <a:t>🔗  </a:t>
            </a:r>
            <a:r>
              <a:rPr sz="1000" dirty="0">
                <a:hlinkClick r:id="rId7"/>
              </a:rPr>
              <a:t>ebis.gov.in</a:t>
            </a:r>
            <a:endParaRPr sz="1000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6CF7B552-D02D-CF8E-0E4F-8FFE8B04C048}"/>
              </a:ext>
            </a:extLst>
          </p:cNvPr>
          <p:cNvSpPr/>
          <p:nvPr/>
        </p:nvSpPr>
        <p:spPr>
          <a:xfrm>
            <a:off x="2237529" y="4102360"/>
            <a:ext cx="2380486" cy="1606809"/>
          </a:xfrm>
          <a:prstGeom prst="hexagon">
            <a:avLst/>
          </a:prstGeom>
          <a:solidFill>
            <a:srgbClr val="E8F6FA"/>
          </a:solidFill>
          <a:ln w="19050">
            <a:solidFill>
              <a:srgbClr val="00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Ins="201168" b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83769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 Your Standard</a:t>
            </a:r>
          </a:p>
          <a:p>
            <a:pPr algn="ctr">
              <a:spcBef>
                <a:spcPts val="300"/>
              </a:spcBef>
              <a:defRPr sz="850">
                <a:solidFill>
                  <a:srgbClr val="083769"/>
                </a:solidFill>
                <a:latin typeface="Aptos"/>
              </a:defRPr>
            </a:pPr>
            <a:r>
              <a:rPr sz="800" dirty="0"/>
              <a:t>Search Indian Standards</a:t>
            </a:r>
            <a:br>
              <a:rPr sz="800" dirty="0"/>
            </a:br>
            <a:r>
              <a:rPr sz="800" dirty="0"/>
              <a:t>by product, keyword or IS number.</a:t>
            </a:r>
          </a:p>
          <a:p>
            <a:pPr algn="ctr">
              <a:spcBef>
                <a:spcPts val="400"/>
              </a:spcBef>
              <a:defRPr sz="800" b="1">
                <a:solidFill>
                  <a:srgbClr val="007EA0"/>
                </a:solidFill>
                <a:latin typeface="Aptos"/>
              </a:defRPr>
            </a:pPr>
            <a:r>
              <a:rPr sz="1000" dirty="0"/>
              <a:t>🔗  </a:t>
            </a:r>
            <a:r>
              <a:rPr sz="1000" dirty="0">
                <a:hlinkClick r:id="rId8"/>
              </a:rPr>
              <a:t>Know Your Standard</a:t>
            </a:r>
            <a:endParaRPr sz="1000" dirty="0"/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60F74691-0F4E-6047-BE1E-118954970A38}"/>
              </a:ext>
            </a:extLst>
          </p:cNvPr>
          <p:cNvSpPr/>
          <p:nvPr/>
        </p:nvSpPr>
        <p:spPr>
          <a:xfrm>
            <a:off x="4224825" y="1753615"/>
            <a:ext cx="2337814" cy="1568388"/>
          </a:xfrm>
          <a:prstGeom prst="hexagon">
            <a:avLst/>
          </a:prstGeom>
          <a:solidFill>
            <a:srgbClr val="E8F6FA"/>
          </a:solidFill>
          <a:ln w="19050">
            <a:solidFill>
              <a:srgbClr val="00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Ins="201168" b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83769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Article 1</a:t>
            </a:r>
          </a:p>
          <a:p>
            <a:pPr algn="ctr">
              <a:spcBef>
                <a:spcPts val="300"/>
              </a:spcBef>
              <a:defRPr sz="850">
                <a:solidFill>
                  <a:srgbClr val="083769"/>
                </a:solidFill>
                <a:latin typeface="Aptos"/>
              </a:defRPr>
            </a:pPr>
            <a:r>
              <a:rPr lang="en-US" sz="1000" dirty="0"/>
              <a:t>the-bureau-of-indian-standards-has-a-design-problem-so-does-india</a:t>
            </a:r>
          </a:p>
          <a:p>
            <a:pPr algn="ctr">
              <a:spcBef>
                <a:spcPts val="300"/>
              </a:spcBef>
              <a:defRPr sz="850">
                <a:solidFill>
                  <a:srgbClr val="083769"/>
                </a:solidFill>
                <a:latin typeface="Aptos"/>
              </a:defRPr>
            </a:pPr>
            <a:r>
              <a:rPr sz="1100" dirty="0"/>
              <a:t>🔗  </a:t>
            </a:r>
            <a:r>
              <a:rPr sz="1100" dirty="0">
                <a:hlinkClick r:id="rId9"/>
              </a:rPr>
              <a:t>Article Link</a:t>
            </a:r>
            <a:endParaRPr sz="1100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912E96E5-61D4-0340-6018-7AD1AB9E214B}"/>
              </a:ext>
            </a:extLst>
          </p:cNvPr>
          <p:cNvSpPr/>
          <p:nvPr/>
        </p:nvSpPr>
        <p:spPr>
          <a:xfrm>
            <a:off x="4224825" y="3334465"/>
            <a:ext cx="2380486" cy="1619622"/>
          </a:xfrm>
          <a:prstGeom prst="hexagon">
            <a:avLst/>
          </a:prstGeom>
          <a:solidFill>
            <a:srgbClr val="083769"/>
          </a:solidFill>
          <a:ln w="19050">
            <a:solidFill>
              <a:srgbClr val="00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Ins="201168" b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Article 2</a:t>
            </a:r>
          </a:p>
          <a:p>
            <a:pPr algn="ctr">
              <a:spcBef>
                <a:spcPts val="300"/>
              </a:spcBef>
              <a:defRPr sz="850">
                <a:solidFill>
                  <a:srgbClr val="FFFFFF"/>
                </a:solidFill>
                <a:latin typeface="Aptos"/>
              </a:defRPr>
            </a:pPr>
            <a:r>
              <a:rPr lang="en-US" sz="1000" dirty="0" err="1"/>
              <a:t>ux</a:t>
            </a:r>
            <a:r>
              <a:rPr lang="en-US" sz="1000" dirty="0"/>
              <a:t>-in-</a:t>
            </a:r>
            <a:r>
              <a:rPr lang="en-US" sz="1000" dirty="0" err="1"/>
              <a:t>indian</a:t>
            </a:r>
            <a:r>
              <a:rPr lang="en-US" sz="1000" dirty="0"/>
              <a:t>-government-websites-where-function-meets-friction</a:t>
            </a:r>
            <a:r>
              <a:rPr sz="1000" dirty="0"/>
              <a:t>.</a:t>
            </a:r>
            <a:endParaRPr lang="en-US" sz="1200" dirty="0"/>
          </a:p>
          <a:p>
            <a:pPr algn="ctr">
              <a:spcBef>
                <a:spcPts val="400"/>
              </a:spcBef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100" dirty="0"/>
              <a:t>🔗  </a:t>
            </a:r>
            <a:r>
              <a:rPr sz="1100" dirty="0">
                <a:hlinkClick r:id="rId10"/>
              </a:rPr>
              <a:t>Article Link</a:t>
            </a:r>
            <a:endParaRPr sz="1100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601A1023-080C-785C-8990-FCAF8D1A91F6}"/>
              </a:ext>
            </a:extLst>
          </p:cNvPr>
          <p:cNvSpPr/>
          <p:nvPr/>
        </p:nvSpPr>
        <p:spPr>
          <a:xfrm>
            <a:off x="6169450" y="2539265"/>
            <a:ext cx="2337815" cy="1612369"/>
          </a:xfrm>
          <a:prstGeom prst="hexagon">
            <a:avLst/>
          </a:prstGeom>
          <a:solidFill>
            <a:srgbClr val="083769"/>
          </a:solidFill>
          <a:ln w="19050">
            <a:solidFill>
              <a:srgbClr val="00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Ins="201168" b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850">
                <a:solidFill>
                  <a:srgbClr val="FFFFFF"/>
                </a:solidFill>
                <a:latin typeface="Aptos"/>
              </a:defRPr>
            </a:pPr>
            <a:r>
              <a:rPr lang="en-US" sz="1000" dirty="0"/>
              <a:t>the-case-for-ai-in-citizen-services</a:t>
            </a:r>
            <a:r>
              <a:rPr sz="1000" dirty="0"/>
              <a:t>.</a:t>
            </a:r>
          </a:p>
          <a:p>
            <a:pPr algn="ctr">
              <a:spcBef>
                <a:spcPts val="400"/>
              </a:spcBef>
              <a:defRPr sz="800" b="1">
                <a:solidFill>
                  <a:srgbClr val="FFFFFF"/>
                </a:solidFill>
                <a:latin typeface="Aptos"/>
              </a:defRPr>
            </a:pPr>
            <a:endParaRPr lang="en-US" dirty="0"/>
          </a:p>
          <a:p>
            <a:pPr algn="ctr">
              <a:spcBef>
                <a:spcPts val="400"/>
              </a:spcBef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100" dirty="0"/>
              <a:t>🔗  </a:t>
            </a:r>
            <a:r>
              <a:rPr sz="1100" dirty="0">
                <a:hlinkClick r:id="rId11"/>
              </a:rPr>
              <a:t>Article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Link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4155376C-C380-098A-AC78-D0F6389EDDA8}"/>
              </a:ext>
            </a:extLst>
          </p:cNvPr>
          <p:cNvSpPr/>
          <p:nvPr/>
        </p:nvSpPr>
        <p:spPr>
          <a:xfrm>
            <a:off x="6212121" y="4151634"/>
            <a:ext cx="2295144" cy="1633616"/>
          </a:xfrm>
          <a:prstGeom prst="hexagon">
            <a:avLst/>
          </a:prstGeom>
          <a:solidFill>
            <a:srgbClr val="E8F6FA"/>
          </a:solidFill>
          <a:ln w="19050">
            <a:solidFill>
              <a:srgbClr val="00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Ins="201168" b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83769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850">
                <a:solidFill>
                  <a:srgbClr val="083769"/>
                </a:solidFill>
                <a:latin typeface="Aptos"/>
              </a:defRPr>
            </a:pPr>
            <a:r>
              <a:rPr lang="en-US" sz="1000" dirty="0"/>
              <a:t>building-trust-and-sustaining-government-through-generative-ai</a:t>
            </a:r>
          </a:p>
          <a:p>
            <a:pPr algn="ctr">
              <a:spcBef>
                <a:spcPts val="400"/>
              </a:spcBef>
              <a:defRPr sz="800" b="1">
                <a:solidFill>
                  <a:srgbClr val="007EA0"/>
                </a:solidFill>
                <a:latin typeface="Aptos"/>
              </a:defRPr>
            </a:pPr>
            <a:r>
              <a:rPr sz="1100" dirty="0"/>
              <a:t>🔗  </a:t>
            </a:r>
            <a:r>
              <a:rPr sz="1100" dirty="0">
                <a:hlinkClick r:id="rId12"/>
              </a:rPr>
              <a:t>Article Link</a:t>
            </a:r>
            <a:endParaRPr sz="1100" dirty="0"/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CC6151E9-E1CC-169B-26C0-EDB778386E7E}"/>
              </a:ext>
            </a:extLst>
          </p:cNvPr>
          <p:cNvSpPr/>
          <p:nvPr/>
        </p:nvSpPr>
        <p:spPr>
          <a:xfrm>
            <a:off x="4203490" y="4928147"/>
            <a:ext cx="2380485" cy="1612592"/>
          </a:xfrm>
          <a:prstGeom prst="hexagon">
            <a:avLst/>
          </a:prstGeom>
          <a:solidFill>
            <a:srgbClr val="E8F6FA"/>
          </a:solidFill>
          <a:ln w="19050">
            <a:solidFill>
              <a:srgbClr val="00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Ins="201168" b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83769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850">
                <a:solidFill>
                  <a:srgbClr val="083769"/>
                </a:solidFill>
                <a:latin typeface="Aptos"/>
              </a:defRPr>
            </a:pPr>
            <a:r>
              <a:rPr lang="en-US" sz="1000" dirty="0"/>
              <a:t>ux4g-design-system-building-a-design-system-for-the-government</a:t>
            </a:r>
          </a:p>
          <a:p>
            <a:pPr algn="ctr">
              <a:spcBef>
                <a:spcPts val="400"/>
              </a:spcBef>
              <a:defRPr sz="800" b="1">
                <a:solidFill>
                  <a:srgbClr val="007EA0"/>
                </a:solidFill>
                <a:latin typeface="Aptos"/>
              </a:defRPr>
            </a:pPr>
            <a:r>
              <a:rPr sz="1100" dirty="0"/>
              <a:t>🔗  </a:t>
            </a:r>
            <a:r>
              <a:rPr sz="1100" dirty="0">
                <a:hlinkClick r:id="rId13"/>
              </a:rPr>
              <a:t>Article Link</a:t>
            </a:r>
            <a:endParaRPr sz="1100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535C3B14-ED71-7D79-E493-E3F7B0DE1F13}"/>
              </a:ext>
            </a:extLst>
          </p:cNvPr>
          <p:cNvSpPr/>
          <p:nvPr/>
        </p:nvSpPr>
        <p:spPr>
          <a:xfrm>
            <a:off x="8135916" y="1748866"/>
            <a:ext cx="2337814" cy="1585600"/>
          </a:xfrm>
          <a:prstGeom prst="hexagon">
            <a:avLst/>
          </a:prstGeom>
          <a:solidFill>
            <a:srgbClr val="E8F6FA"/>
          </a:solidFill>
          <a:ln w="19050">
            <a:solidFill>
              <a:srgbClr val="00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Ins="201168" b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83769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</a:p>
          <a:p>
            <a:pPr algn="ctr">
              <a:defRPr sz="1300" b="1">
                <a:solidFill>
                  <a:srgbClr val="083769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</a:p>
          <a:p>
            <a:pPr algn="ctr">
              <a:spcBef>
                <a:spcPts val="300"/>
              </a:spcBef>
              <a:defRPr sz="850">
                <a:solidFill>
                  <a:srgbClr val="083769"/>
                </a:solidFill>
                <a:latin typeface="Aptos"/>
              </a:defRPr>
            </a:pPr>
            <a:r>
              <a:rPr sz="800" dirty="0"/>
              <a:t>Data insights and</a:t>
            </a:r>
            <a:br>
              <a:rPr sz="800" dirty="0"/>
            </a:br>
            <a:r>
              <a:rPr sz="800" dirty="0"/>
              <a:t>analysis of BIS services</a:t>
            </a:r>
            <a:br>
              <a:rPr sz="800" dirty="0"/>
            </a:br>
            <a:r>
              <a:rPr sz="800" dirty="0"/>
              <a:t>and user trends.</a:t>
            </a:r>
          </a:p>
          <a:p>
            <a:pPr algn="ctr">
              <a:spcBef>
                <a:spcPts val="400"/>
              </a:spcBef>
              <a:defRPr sz="800" b="1">
                <a:solidFill>
                  <a:srgbClr val="007EA0"/>
                </a:solidFill>
                <a:latin typeface="Aptos"/>
              </a:defRPr>
            </a:pPr>
            <a:endParaRPr lang="en-US" dirty="0"/>
          </a:p>
          <a:p>
            <a:pPr algn="ctr">
              <a:spcBef>
                <a:spcPts val="400"/>
              </a:spcBef>
              <a:defRPr sz="800" b="1">
                <a:solidFill>
                  <a:srgbClr val="007EA0"/>
                </a:solidFill>
                <a:latin typeface="Aptos"/>
              </a:defRPr>
            </a:pPr>
            <a:r>
              <a:rPr sz="1000" dirty="0"/>
              <a:t>🔗  </a:t>
            </a:r>
            <a:r>
              <a:rPr sz="1000" dirty="0">
                <a:hlinkClick r:id="rId14"/>
              </a:rPr>
              <a:t>Graph Link</a:t>
            </a:r>
            <a:endParaRPr sz="1000" dirty="0"/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4B6AD01F-FB49-DA70-F763-7F0301FAF18E}"/>
              </a:ext>
            </a:extLst>
          </p:cNvPr>
          <p:cNvSpPr/>
          <p:nvPr/>
        </p:nvSpPr>
        <p:spPr>
          <a:xfrm>
            <a:off x="8093245" y="3334465"/>
            <a:ext cx="2380486" cy="1612591"/>
          </a:xfrm>
          <a:prstGeom prst="hexagon">
            <a:avLst/>
          </a:prstGeom>
          <a:solidFill>
            <a:srgbClr val="083769"/>
          </a:solidFill>
          <a:ln w="19050">
            <a:solidFill>
              <a:srgbClr val="00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Ins="201168" b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Document</a:t>
            </a:r>
          </a:p>
          <a:p>
            <a:r>
              <a:rPr lang="en-IN" sz="800" dirty="0">
                <a:latin typeface="Aptos" panose="020B0004020202020204" pitchFamily="34" charset="0"/>
              </a:rPr>
              <a:t>Explainer video on BIS</a:t>
            </a:r>
            <a:br>
              <a:rPr lang="en-IN" sz="800" dirty="0">
                <a:latin typeface="Aptos" panose="020B0004020202020204" pitchFamily="34" charset="0"/>
              </a:rPr>
            </a:br>
            <a:r>
              <a:rPr lang="en-IN" sz="800" dirty="0">
                <a:latin typeface="Aptos" panose="020B0004020202020204" pitchFamily="34" charset="0"/>
              </a:rPr>
              <a:t>services, standards and</a:t>
            </a:r>
            <a:br>
              <a:rPr lang="en-IN" sz="800" dirty="0">
                <a:latin typeface="Aptos" panose="020B0004020202020204" pitchFamily="34" charset="0"/>
              </a:rPr>
            </a:br>
            <a:r>
              <a:rPr lang="en-IN" sz="800" dirty="0">
                <a:latin typeface="Aptos" panose="020B0004020202020204" pitchFamily="34" charset="0"/>
              </a:rPr>
              <a:t>certification.</a:t>
            </a:r>
          </a:p>
          <a:p>
            <a:endParaRPr lang="en-IN" sz="1000" dirty="0"/>
          </a:p>
          <a:p>
            <a:r>
              <a:rPr lang="en-IN" sz="1000" dirty="0">
                <a:hlinkClick r:id="rId15"/>
              </a:rPr>
              <a:t>🔗 Document Link</a:t>
            </a:r>
            <a:endParaRPr lang="en-IN" sz="1000" dirty="0"/>
          </a:p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50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</TotalTime>
  <Words>238</Words>
  <Application>Microsoft Office PowerPoint</Application>
  <PresentationFormat>Widescreen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 Yadav</dc:creator>
  <cp:lastModifiedBy>om roy</cp:lastModifiedBy>
  <cp:revision>137</cp:revision>
  <dcterms:created xsi:type="dcterms:W3CDTF">2026-09-10T05:50:06Z</dcterms:created>
  <dcterms:modified xsi:type="dcterms:W3CDTF">2026-09-13T09:43:39Z</dcterms:modified>
</cp:coreProperties>
</file>